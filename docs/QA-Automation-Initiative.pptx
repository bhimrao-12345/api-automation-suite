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20640"/>
            <a:ext cx="12188952" cy="173736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Jira-Driven QA Automation Initiative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AEEF"/>
                </a:solidFill>
                <a:latin typeface="Calibri"/>
              </a:rPr>
              <a:t>From Manual Ticket Review to Fully Automated Test Generation, Execution &amp; Reporting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747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6E8"/>
                </a:solidFill>
                <a:latin typeface="Calibri"/>
              </a:rPr>
              <a:t>LBLR Voice Services  ·  QA Automation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2120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2C5E"/>
                </a:solidFill>
                <a:latin typeface="Calibri"/>
              </a:rPr>
              <a:t>REST Assured  ·  JUnit 5  ·  Maven  ·  Allure  ·  Jira / Xray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1.  Objective of This Initiative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AEEF"/>
                </a:solidFill>
                <a:latin typeface="Calibri"/>
              </a:rPr>
              <a:t>What problem are we solving and what does success look like?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5087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B2C5E"/>
                </a:solidFill>
                <a:latin typeface="Calibri"/>
              </a:rPr>
              <a:t>Goal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74519"/>
            <a:ext cx="11430000" cy="36576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029968"/>
            <a:ext cx="228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EEF"/>
                </a:solidFill>
                <a:latin typeface="Calibri"/>
              </a:rPr>
              <a:t>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029968"/>
            <a:ext cx="1099108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1A2E"/>
                </a:solidFill>
                <a:latin typeface="Calibri"/>
              </a:rPr>
              <a:t>Eliminate repetitive manual work  </a:t>
            </a:r>
            <a:r>
              <a:rPr sz="1300" i="1">
                <a:solidFill>
                  <a:srgbClr val="556580"/>
                </a:solidFill>
                <a:latin typeface="Calibri"/>
              </a:rPr>
              <a:t>QA engineers were spending time each day checking Jira, reading tickets, and hand-writing test classes.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228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EEF"/>
                </a:solidFill>
                <a:latin typeface="Calibri"/>
              </a:rPr>
              <a:t>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834640"/>
            <a:ext cx="1099108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1A2E"/>
                </a:solidFill>
                <a:latin typeface="Calibri"/>
              </a:rPr>
              <a:t>Enforce consistent test structure  </a:t>
            </a:r>
            <a:r>
              <a:rPr sz="1300" i="1">
                <a:solidFill>
                  <a:srgbClr val="556580"/>
                </a:solidFill>
                <a:latin typeface="Calibri"/>
              </a:rPr>
              <a:t>Every generated class follows the same SpecFactory / EnvConfig / Xray conventions automatically.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639312"/>
            <a:ext cx="228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EEF"/>
                </a:solidFill>
                <a:latin typeface="Calibri"/>
              </a:rPr>
              <a:t>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3639312"/>
            <a:ext cx="1099108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1A2E"/>
                </a:solidFill>
                <a:latin typeface="Calibri"/>
              </a:rPr>
              <a:t>Close the loop with Jira  </a:t>
            </a:r>
            <a:r>
              <a:rPr sz="1300" i="1">
                <a:solidFill>
                  <a:srgbClr val="556580"/>
                </a:solidFill>
                <a:latin typeface="Calibri"/>
              </a:rPr>
              <a:t>Test results flow back into Jira instantly — labels, pass/fail comments, Done transitions — with no manual step.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443984"/>
            <a:ext cx="228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EEF"/>
                </a:solidFill>
                <a:latin typeface="Calibri"/>
              </a:rPr>
              <a:t>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4443984"/>
            <a:ext cx="1099108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1A2E"/>
                </a:solidFill>
                <a:latin typeface="Calibri"/>
              </a:rPr>
              <a:t>Catch incomplete tickets early  </a:t>
            </a:r>
            <a:r>
              <a:rPr sz="1300" i="1">
                <a:solidFill>
                  <a:srgbClr val="556580"/>
                </a:solidFill>
                <a:latin typeface="Calibri"/>
              </a:rPr>
              <a:t>Tickets missing ACs, endpoint, or examples receive an automated comment before QA time is wasted.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248656"/>
            <a:ext cx="228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EEF"/>
                </a:solidFill>
                <a:latin typeface="Calibri"/>
              </a:rPr>
              <a:t>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5248656"/>
            <a:ext cx="1099108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1A2E"/>
                </a:solidFill>
                <a:latin typeface="Calibri"/>
              </a:rPr>
              <a:t>Give developers real-time feedback  </a:t>
            </a:r>
            <a:r>
              <a:rPr sz="1300" i="1">
                <a:solidFill>
                  <a:srgbClr val="556580"/>
                </a:solidFill>
                <a:latin typeface="Calibri"/>
              </a:rPr>
              <a:t>A failure comment tagging the reporter lands on the Jira ticket within seconds of the Maven run finishing.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2.  The Manual Process  (Before Automation)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AEEF"/>
                </a:solidFill>
                <a:latin typeface="Calibri"/>
              </a:rPr>
              <a:t>Every step below was done by hand — repeatedly, for every new story.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438912" cy="438912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46304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44475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C5E"/>
                </a:solidFill>
                <a:latin typeface="Calibri"/>
              </a:rPr>
              <a:t>Open Jira each morning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728216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Filter LBVOICESER for 'Ready for Testing' stories manually.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706624"/>
            <a:ext cx="438912" cy="438912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270662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68833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C5E"/>
                </a:solidFill>
                <a:latin typeface="Calibri"/>
              </a:rPr>
              <a:t>Read each ticket individually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9718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Check description, acceptance criteria, HTTP method, endpoint, examples.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950208"/>
            <a:ext cx="438912" cy="438912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395020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393192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C5E"/>
                </a:solidFill>
                <a:latin typeface="Calibri"/>
              </a:rPr>
              <a:t>Judge test-readiness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4215384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Decide whether the ticket has enough information to write tests.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5193792"/>
            <a:ext cx="438912" cy="438912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5193792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517550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C5E"/>
                </a:solidFill>
                <a:latin typeface="Calibri"/>
              </a:rPr>
              <a:t>Request missing information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545896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Write a comment to the assignee listing what's missing — by hand.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59" y="1463040"/>
            <a:ext cx="438912" cy="438912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59" y="146304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30568" y="144475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C5E"/>
                </a:solidFill>
                <a:latin typeface="Calibri"/>
              </a:rPr>
              <a:t>Write the Java test class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0568" y="1728216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Author all @Test methods, annotations, imports, and assertions from scratch.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59" y="2706624"/>
            <a:ext cx="438912" cy="438912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59" y="270662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0568" y="268833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C5E"/>
                </a:solidFill>
                <a:latin typeface="Calibri"/>
              </a:rPr>
              <a:t>Run mvn test locally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29718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Execute the suite, wait, read console output for failures.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59" y="3950208"/>
            <a:ext cx="438912" cy="438912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59" y="395020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30568" y="393192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C5E"/>
                </a:solidFill>
                <a:latin typeface="Calibri"/>
              </a:rPr>
              <a:t>Record test results in Jira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30568" y="4215384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Manually add labels, post a comment with failure details, transition ticket.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59" y="5193792"/>
            <a:ext cx="438912" cy="438912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59" y="5193792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30568" y="517550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C5E"/>
                </a:solidFill>
                <a:latin typeface="Calibri"/>
              </a:rPr>
              <a:t>Open Allure report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30568" y="545896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Run mvn allure:serve separately, share the URL with the team.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0" y="1417320"/>
            <a:ext cx="36576" cy="5212080"/>
          </a:xfrm>
          <a:prstGeom prst="rect">
            <a:avLst/>
          </a:prstGeom>
          <a:solidFill>
            <a:srgbClr val="CC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3.  The Automated Workflow  —  What We Do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AEEF"/>
                </a:solidFill>
                <a:latin typeface="Calibri"/>
              </a:rPr>
              <a:t>Type  "start"  in Claude Code  →  everything below runs automatically, end to 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44752"/>
            <a:ext cx="7498079" cy="603503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74904" y="1536192"/>
            <a:ext cx="402336" cy="402336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" y="153619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499616"/>
            <a:ext cx="6876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2C5E"/>
                </a:solidFill>
                <a:latin typeface="Calibri"/>
              </a:rPr>
              <a:t>Type  "start"  in Claude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755648"/>
            <a:ext cx="6876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5570"/>
                </a:solidFill>
                <a:latin typeface="Calibri"/>
              </a:rPr>
              <a:t>Triggers the sync — no script, no CLI flag.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011679"/>
            <a:ext cx="3291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CD6E8"/>
                </a:solidFill>
                <a:latin typeface="Calibri"/>
              </a:rPr>
              <a:t>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103120"/>
            <a:ext cx="7498079" cy="603503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4904" y="2194560"/>
            <a:ext cx="402336" cy="402336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4" y="219456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157984"/>
            <a:ext cx="6876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2C5E"/>
                </a:solidFill>
                <a:latin typeface="Calibri"/>
              </a:rPr>
              <a:t>JQL fetch via Atlassian MCP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414015"/>
            <a:ext cx="6876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5570"/>
                </a:solidFill>
                <a:latin typeface="Calibri"/>
              </a:rPr>
              <a:t>Pulls every LBVOICESER story in 'Ready for Testing' that has no qa-auto-generated or qa-context-requested label.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2670047"/>
            <a:ext cx="3291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CD6E8"/>
                </a:solidFill>
                <a:latin typeface="Calibri"/>
              </a:rPr>
              <a:t>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761488"/>
            <a:ext cx="7498079" cy="603503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4904" y="2852928"/>
            <a:ext cx="402336" cy="402336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4904" y="2852928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2816352"/>
            <a:ext cx="6876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2C5E"/>
                </a:solidFill>
                <a:latin typeface="Calibri"/>
              </a:rPr>
              <a:t>Context check — per ticket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072384"/>
            <a:ext cx="6876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5570"/>
                </a:solidFill>
                <a:latin typeface="Calibri"/>
              </a:rPr>
              <a:t>Checks for: summary · description · ≥1 AC · HTTP method · endpoint path · request/response example.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79" y="3328416"/>
            <a:ext cx="3291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CD6E8"/>
                </a:solidFill>
                <a:latin typeface="Calibri"/>
              </a:rPr>
              <a:t>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419856"/>
            <a:ext cx="7498079" cy="603503"/>
          </a:xfrm>
          <a:prstGeom prst="rect">
            <a:avLst/>
          </a:prstGeom>
          <a:solidFill>
            <a:srgbClr val="E8F4FF"/>
          </a:solidFill>
          <a:ln w="9525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74904" y="3511296"/>
            <a:ext cx="402336" cy="402336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4904" y="3511296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3474720"/>
            <a:ext cx="6876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5AA0"/>
                </a:solidFill>
                <a:latin typeface="Calibri"/>
              </a:rPr>
              <a:t>GATE 1 — Plan Review  (human step)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3730752"/>
            <a:ext cx="6876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5570"/>
                </a:solidFill>
                <a:latin typeface="Calibri"/>
              </a:rPr>
              <a:t>Claude presents a table: test method | @DisplayName | AC covered.  QA approves or rejects the plan.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79" y="3986784"/>
            <a:ext cx="3291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CD6E8"/>
                </a:solidFill>
                <a:latin typeface="Calibri"/>
              </a:rPr>
              <a:t>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078224"/>
            <a:ext cx="7498079" cy="603503"/>
          </a:xfrm>
          <a:prstGeom prst="rect">
            <a:avLst/>
          </a:prstGeom>
          <a:solidFill>
            <a:srgbClr val="E8F4FF"/>
          </a:solidFill>
          <a:ln w="9525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4904" y="4169663"/>
            <a:ext cx="402336" cy="402336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4904" y="4169663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4133087"/>
            <a:ext cx="6876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5AA0"/>
                </a:solidFill>
                <a:latin typeface="Calibri"/>
              </a:rPr>
              <a:t>GATE 2 — Script Review  (human step)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4389120"/>
            <a:ext cx="6876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5570"/>
                </a:solidFill>
                <a:latin typeface="Calibri"/>
              </a:rPr>
              <a:t>Claude writes the Java test class.  QA reviews the file and approves or rejects before any test runs.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79" y="4645152"/>
            <a:ext cx="3291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CD6E8"/>
                </a:solidFill>
                <a:latin typeface="Calibri"/>
              </a:rPr>
              <a:t>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736592"/>
            <a:ext cx="7498079" cy="603503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74904" y="4828031"/>
            <a:ext cx="402336" cy="402336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4904" y="4828031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" y="4791455"/>
            <a:ext cx="6876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2C5E"/>
                </a:solidFill>
                <a:latin typeface="Calibri"/>
              </a:rPr>
              <a:t>Combined  mvn test  run  (all approved classes at once)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5047488"/>
            <a:ext cx="6876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5570"/>
                </a:solidFill>
                <a:latin typeface="Calibri"/>
              </a:rPr>
              <a:t>One PowerShell foreground execution — 5-minute timeout.  Allure report opens automatically when done.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79" y="5303520"/>
            <a:ext cx="3291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CD6E8"/>
                </a:solidFill>
                <a:latin typeface="Calibri"/>
              </a:rPr>
              <a:t>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5394960"/>
            <a:ext cx="7498079" cy="603503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74904" y="5486400"/>
            <a:ext cx="402336" cy="402336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4904" y="548640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" y="5449824"/>
            <a:ext cx="6876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2C5E"/>
                </a:solidFill>
                <a:latin typeface="Calibri"/>
              </a:rPr>
              <a:t>Jira auto-update  (same turn, no user input)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" y="5705856"/>
            <a:ext cx="6876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5570"/>
                </a:solidFill>
                <a:latin typeface="Calibri"/>
              </a:rPr>
              <a:t>Label qa-auto-generated added.  All tests pass → ticket transitioned to Done.  Any failure → ADF comment @reporter listing exact failing method names.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55279" y="1444752"/>
            <a:ext cx="3886200" cy="402336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46719" y="1499616"/>
            <a:ext cx="3749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⚠  INSUFFICIENT Ticket Path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55279" y="1847088"/>
            <a:ext cx="3886200" cy="4251960"/>
          </a:xfrm>
          <a:prstGeom prst="rect">
            <a:avLst/>
          </a:prstGeom>
          <a:solidFill>
            <a:srgbClr val="FFF3E0"/>
          </a:solidFill>
          <a:ln w="9525">
            <a:solidFill>
              <a:srgbClr val="E85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065007" y="1938528"/>
            <a:ext cx="347472" cy="347472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65007" y="193852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03919" y="1938528"/>
            <a:ext cx="3227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04000"/>
                </a:solidFill>
                <a:latin typeface="Calibri"/>
              </a:rPr>
              <a:t>Ticket fails context check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03919" y="2212848"/>
            <a:ext cx="32278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A1A2E"/>
                </a:solidFill>
                <a:latin typeface="Calibri"/>
              </a:rPr>
              <a:t>Missing ≥1 of: AC · HTTP method · endpoint · request/response example.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19871" y="2340864"/>
            <a:ext cx="256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8532A"/>
                </a:solidFill>
                <a:latin typeface="Calibri"/>
              </a:rPr>
              <a:t>▼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065007" y="2926080"/>
            <a:ext cx="347472" cy="347472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065007" y="29260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03919" y="2926080"/>
            <a:ext cx="3227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04000"/>
                </a:solidFill>
                <a:latin typeface="Calibri"/>
              </a:rPr>
              <a:t>ADF comment posted to assignee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03919" y="3200400"/>
            <a:ext cx="32278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A1A2E"/>
                </a:solidFill>
                <a:latin typeface="Calibri"/>
              </a:rPr>
              <a:t>Lists exactly what's missing with examples — no guesswork for the developer.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19871" y="3328416"/>
            <a:ext cx="256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8532A"/>
                </a:solidFill>
                <a:latin typeface="Calibri"/>
              </a:rPr>
              <a:t>▼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065007" y="3913632"/>
            <a:ext cx="347472" cy="347472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065007" y="391363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03919" y="3913632"/>
            <a:ext cx="3227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04000"/>
                </a:solidFill>
                <a:latin typeface="Calibri"/>
              </a:rPr>
              <a:t>Label applied:  qa-context-requested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503919" y="4187952"/>
            <a:ext cx="32278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A1A2E"/>
                </a:solidFill>
                <a:latin typeface="Calibri"/>
              </a:rPr>
              <a:t>JQL filter excludes this label — ticket is skipped on every subsequent sync.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119871" y="4315968"/>
            <a:ext cx="256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8532A"/>
                </a:solidFill>
                <a:latin typeface="Calibri"/>
              </a:rPr>
              <a:t>▼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065007" y="4901184"/>
            <a:ext cx="347472" cy="347472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065007" y="490118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503919" y="4901184"/>
            <a:ext cx="3227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04000"/>
                </a:solidFill>
                <a:latin typeface="Calibri"/>
              </a:rPr>
              <a:t>Ticket re-enters queue automatically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03919" y="5175504"/>
            <a:ext cx="32278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A1A2E"/>
                </a:solidFill>
                <a:latin typeface="Calibri"/>
              </a:rPr>
              <a:t>Once the developer updates the ticket and removes the label, the next sync picks it up.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891272" y="1426464"/>
            <a:ext cx="36576" cy="5230368"/>
          </a:xfrm>
          <a:prstGeom prst="rect">
            <a:avLst/>
          </a:prstGeom>
          <a:solidFill>
            <a:srgbClr val="CC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4.  What Gets Generated — Automatically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AEEF"/>
                </a:solidFill>
                <a:latin typeface="Calibri"/>
              </a:rPr>
              <a:t>Each approved ticket produces a complete, runnable Java test class.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B2C5E"/>
                </a:solidFill>
                <a:latin typeface="Calibri"/>
              </a:rPr>
              <a:t>Every generated class includes: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828800"/>
            <a:ext cx="22860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EEF"/>
                </a:solidFill>
                <a:latin typeface="Calibri"/>
              </a:rPr>
              <a:t>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828800"/>
            <a:ext cx="1108252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1A2E"/>
                </a:solidFill>
                <a:latin typeface="Calibri"/>
              </a:rPr>
              <a:t>One @Test method per Acceptance Criterion  </a:t>
            </a:r>
            <a:r>
              <a:rPr sz="1300" i="1">
                <a:solidFill>
                  <a:srgbClr val="556580"/>
                </a:solidFill>
                <a:latin typeface="Calibri"/>
              </a:rPr>
              <a:t>no extra tests, no missing tests — exactly what the AC defines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505456"/>
            <a:ext cx="22860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EEF"/>
                </a:solidFill>
                <a:latin typeface="Calibri"/>
              </a:rPr>
              <a:t>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505456"/>
            <a:ext cx="1108252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1A2E"/>
                </a:solidFill>
                <a:latin typeface="Calibri"/>
              </a:rPr>
              <a:t>@DisplayName for readable Allure + JUnit output  </a:t>
            </a:r>
            <a:r>
              <a:rPr sz="1300" i="1">
                <a:solidFill>
                  <a:srgbClr val="556580"/>
                </a:solidFill>
                <a:latin typeface="Calibri"/>
              </a:rPr>
              <a:t>human-friendly names, not method identifiers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182112"/>
            <a:ext cx="22860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EEF"/>
                </a:solidFill>
                <a:latin typeface="Calibri"/>
              </a:rPr>
              <a:t>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3182112"/>
            <a:ext cx="1108252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1A2E"/>
                </a:solidFill>
                <a:latin typeface="Calibri"/>
              </a:rPr>
              <a:t>@XrayTest + @Requirement Xray traceability  </a:t>
            </a:r>
            <a:r>
              <a:rPr sz="1300" i="1">
                <a:solidFill>
                  <a:srgbClr val="556580"/>
                </a:solidFill>
                <a:latin typeface="Calibri"/>
              </a:rPr>
              <a:t>results auto-import into Xray Cloud; linked to Jira 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858768"/>
            <a:ext cx="22860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EEF"/>
                </a:solidFill>
                <a:latin typeface="Calibri"/>
              </a:rPr>
              <a:t>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3858768"/>
            <a:ext cx="1108252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1A2E"/>
                </a:solidFill>
                <a:latin typeface="Calibri"/>
              </a:rPr>
              <a:t>SpecFactory.request() for all HTTP calls  </a:t>
            </a:r>
            <a:r>
              <a:rPr sz="1300" i="1">
                <a:solidFill>
                  <a:srgbClr val="556580"/>
                </a:solidFill>
                <a:latin typeface="Calibri"/>
              </a:rPr>
              <a:t>consistent base URI, auth, timeout, Allure filter — no boilerplate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535424"/>
            <a:ext cx="22860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EEF"/>
                </a:solidFill>
                <a:latin typeface="Calibri"/>
              </a:rPr>
              <a:t>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4535424"/>
            <a:ext cx="1108252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1A2E"/>
                </a:solidFill>
                <a:latin typeface="Calibri"/>
              </a:rPr>
              <a:t>EnvConfig for all config and secrets  </a:t>
            </a:r>
            <a:r>
              <a:rPr sz="1300" i="1">
                <a:solidFill>
                  <a:srgbClr val="556580"/>
                </a:solidFill>
                <a:latin typeface="Calibri"/>
              </a:rPr>
              <a:t>no hard-coded URIs or tokens — safe for git commit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5212080"/>
            <a:ext cx="22860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EEF"/>
                </a:solidFill>
                <a:latin typeface="Calibri"/>
              </a:rPr>
              <a:t>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" y="5212080"/>
            <a:ext cx="1108252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1A2E"/>
                </a:solidFill>
                <a:latin typeface="Calibri"/>
              </a:rPr>
              <a:t>Client class abstraction  </a:t>
            </a:r>
            <a:r>
              <a:rPr sz="1300" i="1">
                <a:solidFill>
                  <a:srgbClr val="556580"/>
                </a:solidFill>
                <a:latin typeface="Calibri"/>
              </a:rPr>
              <a:t>TtsClient, TtsStreamClient, VoiceConfigClient — reused across tests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5.  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AEEF"/>
                </a:solidFill>
                <a:latin typeface="Calibri"/>
              </a:rPr>
              <a:t>Battle-tested open-source tools wired together with Claude Code + Atlassian MCP.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2651760" cy="438912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463040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Java 11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901952"/>
            <a:ext cx="265176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1965960"/>
            <a:ext cx="24688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Language &amp; runtime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496312"/>
            <a:ext cx="24688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1A1A2E"/>
                </a:solidFill>
                <a:latin typeface="Calibri"/>
              </a:rPr>
              <a:t>LTS, widely supported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18688" y="1463040"/>
            <a:ext cx="2651760" cy="438912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18688" y="1463040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B2C5E"/>
                </a:solidFill>
                <a:latin typeface="Calibri"/>
              </a:rPr>
              <a:t>REST Assured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18688" y="1901952"/>
            <a:ext cx="265176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10128" y="1965960"/>
            <a:ext cx="24688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HTTP test DSL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0128" y="2496312"/>
            <a:ext cx="24688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1A1A2E"/>
                </a:solidFill>
                <a:latin typeface="Calibri"/>
              </a:rPr>
              <a:t>fluent given/when/then API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17336" y="1463040"/>
            <a:ext cx="2651760" cy="438912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17336" y="1463040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JUnit 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17336" y="1901952"/>
            <a:ext cx="265176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08775" y="1965960"/>
            <a:ext cx="24688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Test runner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08775" y="2496312"/>
            <a:ext cx="24688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1A1A2E"/>
                </a:solidFill>
                <a:latin typeface="Calibri"/>
              </a:rPr>
              <a:t>@Test · @DisplayName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15984" y="1463040"/>
            <a:ext cx="2651760" cy="438912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15984" y="1463040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B2C5E"/>
                </a:solidFill>
                <a:latin typeface="Calibri"/>
              </a:rPr>
              <a:t>Maven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15984" y="1901952"/>
            <a:ext cx="265176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07424" y="1965960"/>
            <a:ext cx="24688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Build &amp; execution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07424" y="2496312"/>
            <a:ext cx="24688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1A1A2E"/>
                </a:solidFill>
                <a:latin typeface="Calibri"/>
              </a:rPr>
              <a:t>mvn test + Surefire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401568"/>
            <a:ext cx="2651760" cy="438912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3401568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Allure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840480"/>
            <a:ext cx="265176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79" y="3904488"/>
            <a:ext cx="24688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HTML reporting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79" y="4434840"/>
            <a:ext cx="24688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1A1A2E"/>
                </a:solidFill>
                <a:latin typeface="Calibri"/>
              </a:rPr>
              <a:t>auto-opens after each run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18688" y="3401568"/>
            <a:ext cx="2651760" cy="438912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18688" y="3401568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Xray / Jira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18688" y="3840480"/>
            <a:ext cx="265176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10128" y="3904488"/>
            <a:ext cx="24688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Traceability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10128" y="4434840"/>
            <a:ext cx="24688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1A1A2E"/>
                </a:solidFill>
                <a:latin typeface="Calibri"/>
              </a:rPr>
              <a:t>@XrayTest · @Requirement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17336" y="3401568"/>
            <a:ext cx="2651760" cy="438912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17336" y="3401568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B2C5E"/>
                </a:solidFill>
                <a:latin typeface="Calibri"/>
              </a:rPr>
              <a:t>Atlassian MCP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17336" y="3840480"/>
            <a:ext cx="265176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08775" y="3904488"/>
            <a:ext cx="24688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Live Jira integration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08775" y="4434840"/>
            <a:ext cx="24688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1A1A2E"/>
                </a:solidFill>
                <a:latin typeface="Calibri"/>
              </a:rPr>
              <a:t>search · comment · transition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15984" y="3401568"/>
            <a:ext cx="2651760" cy="438912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15984" y="3401568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Claude Code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15984" y="3840480"/>
            <a:ext cx="265176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07424" y="3904488"/>
            <a:ext cx="24688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AI orchestration layer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07424" y="4434840"/>
            <a:ext cx="24688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1A1A2E"/>
                </a:solidFill>
                <a:latin typeface="Calibri"/>
              </a:rPr>
              <a:t>reads tickets, writes tests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6.  Key 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AEEF"/>
                </a:solidFill>
                <a:latin typeface="Calibri"/>
              </a:rPr>
              <a:t>Measured impact on QA speed, quality, and developer feedback loop.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1508760"/>
            <a:ext cx="54406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" y="1508760"/>
            <a:ext cx="5440680" cy="73152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636776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B2C5E"/>
                </a:solidFill>
                <a:latin typeface="Calibri"/>
              </a:rPr>
              <a:t>⏱  Zero manual Jira scanning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2057400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5570"/>
                </a:solidFill>
                <a:latin typeface="Calibri"/>
              </a:rPr>
              <a:t>Tickets in 'Ready for Testing' are discovered automatically every session.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91072" y="1508760"/>
            <a:ext cx="54406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91072" y="1508760"/>
            <a:ext cx="5440680" cy="73152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5664" y="1636776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B2C5E"/>
                </a:solidFill>
                <a:latin typeface="Calibri"/>
              </a:rPr>
              <a:t>📝  Test classes in seconds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2057400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5570"/>
                </a:solidFill>
                <a:latin typeface="Calibri"/>
              </a:rPr>
              <a:t>From AC to runnable Java code in one turn — what previously took 30–60 min per ticket.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" y="3063239"/>
            <a:ext cx="54406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7472" y="3063239"/>
            <a:ext cx="5440680" cy="73152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3191256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B2C5E"/>
                </a:solidFill>
                <a:latin typeface="Calibri"/>
              </a:rPr>
              <a:t>🔁  Consistent every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" y="3611879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5570"/>
                </a:solidFill>
                <a:latin typeface="Calibri"/>
              </a:rPr>
              <a:t>Same annotations, same spec factory, same naming — no style drift across engineers.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91072" y="3063239"/>
            <a:ext cx="54406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91072" y="3063239"/>
            <a:ext cx="5440680" cy="73152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5664" y="3191256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B2C5E"/>
                </a:solidFill>
                <a:latin typeface="Calibri"/>
              </a:rPr>
              <a:t>🚨  Instant failure feedback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3611879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5570"/>
                </a:solidFill>
                <a:latin typeface="Calibri"/>
              </a:rPr>
              <a:t>Reporter is @mentioned in Jira with exact failing method names within seconds of the Maven run.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" y="4617720"/>
            <a:ext cx="54406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47472" y="4617720"/>
            <a:ext cx="5440680" cy="73152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" y="4745736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B2C5E"/>
                </a:solidFill>
                <a:latin typeface="Calibri"/>
              </a:rPr>
              <a:t>✅  Automatic Done transition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" y="5166359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5570"/>
                </a:solidFill>
                <a:latin typeface="Calibri"/>
              </a:rPr>
              <a:t>When all tests pass, the Jira ticket moves to Done automatically — no human step.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91072" y="4617720"/>
            <a:ext cx="54406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91072" y="4617720"/>
            <a:ext cx="5440680" cy="73152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55664" y="4745736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B2C5E"/>
                </a:solidFill>
                <a:latin typeface="Calibri"/>
              </a:rPr>
              <a:t>📋  Incomplete tickets surfaced early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5664" y="5166359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5570"/>
                </a:solidFill>
                <a:latin typeface="Calibri"/>
              </a:rPr>
              <a:t>Missing ACs or endpoint details trigger a structured comment before QA time is spent.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212080"/>
            <a:ext cx="12188952" cy="164592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11064240" cy="658368"/>
          </a:xfrm>
          <a:prstGeom prst="rect">
            <a:avLst/>
          </a:prstGeom>
          <a:solidFill>
            <a:srgbClr val="0F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✔  Manual daily Jira reviews  →  replaced by a single  start  command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31720"/>
            <a:ext cx="11064240" cy="658368"/>
          </a:xfrm>
          <a:prstGeom prst="rect">
            <a:avLst/>
          </a:prstGeom>
          <a:solidFill>
            <a:srgbClr val="0F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37744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✔  Hand-written test classes  →  auto-generated from Acceptance Criteria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154680"/>
            <a:ext cx="11064240" cy="658368"/>
          </a:xfrm>
          <a:prstGeom prst="rect">
            <a:avLst/>
          </a:prstGeom>
          <a:solidFill>
            <a:srgbClr val="0F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20040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✔  Manual Maven runs + result tracking  →  combined run + Jira auto-update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977639"/>
            <a:ext cx="11064240" cy="658368"/>
          </a:xfrm>
          <a:prstGeom prst="rect">
            <a:avLst/>
          </a:prstGeom>
          <a:solidFill>
            <a:srgbClr val="0F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02336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✔  Developer feedback in hours  →  @mention comment in seconds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2180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2C5E"/>
                </a:solidFill>
                <a:latin typeface="Calibri"/>
              </a:rPr>
              <a:t>Next  →  Expand to all LBVOICESER APIs  ·  Add schema validation  ·  Xray Cloud result import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